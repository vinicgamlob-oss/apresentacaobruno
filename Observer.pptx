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6d7a2c487_0_30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6d7a2c487_0_4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6d7a2c48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6d7a2c48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d7a2c487_0_1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d7a2c487_0_5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6d7a2c487_0_6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6d7a2c487_0_10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d93c8838_13_0)">
  <p:cSld name="Generated (g3d6d93c8838_13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(g3d6d93c8838_75_0)">
  <p:cSld name="Slide de título (g3d6d93c8838_75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1714500" y="2571750"/>
            <a:ext cx="5715000" cy="38100"/>
          </a:xfrm>
          <a:prstGeom prst="rect">
            <a:avLst/>
          </a:prstGeom>
          <a:solidFill>
            <a:srgbClr val="1A1A1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381000" y="1524000"/>
            <a:ext cx="838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92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b="1" sz="592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381000" y="27622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Elisa e Vinicius</a:t>
            </a:r>
            <a:endParaRPr b="0"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5"/>
          <p:cNvGrpSpPr/>
          <p:nvPr/>
        </p:nvGrpSpPr>
        <p:grpSpPr>
          <a:xfrm>
            <a:off x="0" y="762000"/>
            <a:ext cx="9144000" cy="4381500"/>
            <a:chOff x="0" y="762000"/>
            <a:chExt cx="9144000" cy="4381500"/>
          </a:xfrm>
        </p:grpSpPr>
        <p:sp>
          <p:nvSpPr>
            <p:cNvPr id="63" name="Google Shape;63;p1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1A1A1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4000500" y="762000"/>
              <a:ext cx="1143000" cy="19200"/>
            </a:xfrm>
            <a:prstGeom prst="rect">
              <a:avLst/>
            </a:prstGeom>
            <a:solidFill>
              <a:srgbClr val="1A1A1B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. Introdução ao Padrão: GoF "Observer"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81000" y="1143000"/>
            <a:ext cx="4191000" cy="3619500"/>
          </a:xfrm>
          <a:prstGeom prst="roundRect">
            <a:avLst>
              <a:gd fmla="val 3157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571500" y="1333500"/>
            <a:ext cx="3810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Definição e Propósito</a:t>
            </a:r>
            <a:endParaRPr b="1" sz="16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Nome: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Observer (Observador)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Intenção: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Definir uma dependência um-para-muitos entre objetos, de modo que, quando um objeto muda de estado, todos os seus dependentes sejam notificados e atualizados automaticamente.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Quando usar: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Quando uma abstração tem dois aspectos, um dependente do outro, ou quando uma mudança em um objeto exige mudanças em outros sem saber quantos são.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O padrão Observer, parte do catálogo clássico do </a:t>
            </a: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Gang of Four (GoF)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, promove o baixo acoplamento ao permitir que o "Sujeito" gerencie interessados sem conhecer suas implementações concretas.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rofessional, high-quality 3D render illustrating the concept of &quot;Information Broadcast&quot; or &quot;Connectivity&quot;. Central node radiating signals to multiple peripheral nodes in a clean, tech-oriented aesthetic with soft blue and gray tones. Minimalist and corporate style." id="73" name="Google Shape;73;p16"/>
          <p:cNvPicPr preferRelativeResize="0"/>
          <p:nvPr/>
        </p:nvPicPr>
        <p:blipFill rotWithShape="1">
          <a:blip r:embed="rId4">
            <a:alphaModFix/>
          </a:blip>
          <a:srcRect b="2499" l="0" r="0" t="2499"/>
          <a:stretch/>
        </p:blipFill>
        <p:spPr>
          <a:xfrm>
            <a:off x="4762500" y="1143000"/>
            <a:ext cx="3810000" cy="3619500"/>
          </a:xfrm>
          <a:prstGeom prst="roundRect">
            <a:avLst>
              <a:gd fmla="val 3157" name="adj"/>
            </a:avLst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4762500" y="1143000"/>
            <a:ext cx="3810000" cy="3619500"/>
          </a:xfrm>
          <a:prstGeom prst="roundRect">
            <a:avLst>
              <a:gd fmla="val 3157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. Estrutura e Diagrama: Padrão Observer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7"/>
          <p:cNvGrpSpPr/>
          <p:nvPr/>
        </p:nvGrpSpPr>
        <p:grpSpPr>
          <a:xfrm>
            <a:off x="381000" y="1143000"/>
            <a:ext cx="3810000" cy="3619500"/>
            <a:chOff x="381000" y="1143000"/>
            <a:chExt cx="3810000" cy="3619500"/>
          </a:xfrm>
        </p:grpSpPr>
        <p:sp>
          <p:nvSpPr>
            <p:cNvPr id="81" name="Google Shape;81;p17"/>
            <p:cNvSpPr/>
            <p:nvPr/>
          </p:nvSpPr>
          <p:spPr>
            <a:xfrm>
              <a:off x="381000" y="1143000"/>
              <a:ext cx="3810000" cy="3619500"/>
            </a:xfrm>
            <a:prstGeom prst="roundRect">
              <a:avLst>
                <a:gd fmla="val 3157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7"/>
            <p:cNvSpPr txBox="1"/>
            <p:nvPr/>
          </p:nvSpPr>
          <p:spPr>
            <a:xfrm>
              <a:off x="571500" y="1333500"/>
              <a:ext cx="3429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Componentes do Diagrama</a:t>
              </a:r>
              <a:endParaRPr b="1" sz="16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Subject (</a:t>
              </a: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Sujeito</a:t>
              </a: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):</a:t>
              </a: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Mantém uma lista de observadores e fornece métodos para anexar, desanexar e notificar.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Observer (Observador):</a:t>
              </a: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Define uma interface de atualização para objetos que devem ser notificados sobre mudanças no sujeito.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ConcreteSubject:</a:t>
              </a: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Armazena o estado de interesse para os ConcreteObservers e envia uma notificação quando seu estado muda.</a:t>
              </a:r>
              <a:endParaRPr/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pt-BR" sz="11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ConcreteObserver:</a:t>
              </a: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Mantém uma referência para o ConcreteSubject e implementa a interface de atualização para manter seu estado consistente com o do sujeito.</a:t>
              </a:r>
              <a:endParaRPr/>
            </a:p>
          </p:txBody>
        </p:sp>
      </p:grpSp>
      <p:pic>
        <p:nvPicPr>
          <p:cNvPr id="83" name="Google Shape;83;p17" title="Generico.png"/>
          <p:cNvPicPr preferRelativeResize="0"/>
          <p:nvPr/>
        </p:nvPicPr>
        <p:blipFill rotWithShape="1">
          <a:blip r:embed="rId3">
            <a:alphaModFix/>
          </a:blip>
          <a:srcRect b="46650" l="0" r="32967" t="0"/>
          <a:stretch/>
        </p:blipFill>
        <p:spPr>
          <a:xfrm>
            <a:off x="4314950" y="1510600"/>
            <a:ext cx="4448050" cy="274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8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pt-BR" sz="238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. Contextualização: O Padrão Observer</a:t>
            </a:r>
            <a:endParaRPr b="1" sz="238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04800" y="1238250"/>
            <a:ext cx="4000500" cy="3333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pt-BR" sz="18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.1 - Problema Real: Notificação de Mudanças</a:t>
            </a:r>
            <a:endParaRPr b="1" sz="18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Imagine um sistema de leilão online onde centenas de usuários precisam saber instantaneamente quando um lance é superado.</a:t>
            </a:r>
            <a:endParaRPr sz="14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1200"/>
              </a:spcAft>
              <a:buNone/>
            </a:pPr>
            <a:r>
              <a:rPr lang="pt-BR" sz="14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Sem um padrão, o objeto Leilão teria que manter uma lista rígida e manual de cada usuário, acoplando fortemente o "Sujeito" (o leilão) aos seus "Observadores" (usuários).</a:t>
            </a:r>
            <a:endParaRPr sz="14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838700" y="1238250"/>
            <a:ext cx="4000500" cy="3333900"/>
          </a:xfrm>
          <a:prstGeom prst="rect">
            <a:avLst/>
          </a:prstGeom>
          <a:solidFill>
            <a:srgbClr val="FFF4F4"/>
          </a:solidFill>
          <a:ln cap="flat" cmpd="sng" w="9525">
            <a:solidFill>
              <a:srgbClr val="F8D7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3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pt-BR" sz="153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.2 - Por que a Solução Ingênua Falha?</a:t>
            </a:r>
            <a:endParaRPr b="1" sz="153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1125"/>
              </a:spcBef>
              <a:spcAft>
                <a:spcPts val="0"/>
              </a:spcAft>
              <a:buClr>
                <a:srgbClr val="3C4043"/>
              </a:buClr>
              <a:buSzPts val="1190"/>
              <a:buFont typeface="Arial"/>
              <a:buChar char="●"/>
            </a:pPr>
            <a:r>
              <a:rPr b="1"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Falta de Escalabilidade:</a:t>
            </a:r>
            <a:r>
              <a:rPr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Fazer o Sujeito perguntar a cada objeto se ele quer a atualização gera tráfego de rede e processamento desnecessário.</a:t>
            </a:r>
            <a:endParaRPr sz="119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1190"/>
              <a:buFont typeface="Arial"/>
              <a:buChar char="●"/>
            </a:pPr>
            <a:r>
              <a:rPr b="1"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Acoplamento Forte:</a:t>
            </a:r>
            <a:r>
              <a:rPr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O Sujeito precisa conhecer as classes concretas de todos os interessados, dificultando a adição de novos tipos de observadores.</a:t>
            </a:r>
            <a:endParaRPr sz="119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900"/>
              </a:spcBef>
              <a:spcAft>
                <a:spcPts val="0"/>
              </a:spcAft>
              <a:buClr>
                <a:srgbClr val="3C4043"/>
              </a:buClr>
              <a:buSzPts val="1190"/>
              <a:buFont typeface="Arial"/>
              <a:buChar char="●"/>
            </a:pPr>
            <a:r>
              <a:rPr b="1"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Inflexibilidade:</a:t>
            </a:r>
            <a:r>
              <a:rPr lang="pt-BR" sz="119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Alterar a lista de interessados exige modificar o código do Sujeito, violando o princípio de aberto/fechado.</a:t>
            </a:r>
            <a:endParaRPr sz="119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381000" y="3512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. Implementação Sem o Padrão Observer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9"/>
          <p:cNvGrpSpPr/>
          <p:nvPr/>
        </p:nvGrpSpPr>
        <p:grpSpPr>
          <a:xfrm>
            <a:off x="381000" y="1143000"/>
            <a:ext cx="4191000" cy="3619500"/>
            <a:chOff x="381000" y="1143000"/>
            <a:chExt cx="4191000" cy="3619500"/>
          </a:xfrm>
        </p:grpSpPr>
        <p:sp>
          <p:nvSpPr>
            <p:cNvPr id="96" name="Google Shape;96;p19"/>
            <p:cNvSpPr/>
            <p:nvPr/>
          </p:nvSpPr>
          <p:spPr>
            <a:xfrm>
              <a:off x="381000" y="1143000"/>
              <a:ext cx="4191000" cy="3619500"/>
            </a:xfrm>
            <a:prstGeom prst="roundRect">
              <a:avLst>
                <a:gd fmla="val 3157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9"/>
            <p:cNvSpPr txBox="1"/>
            <p:nvPr/>
          </p:nvSpPr>
          <p:spPr>
            <a:xfrm>
              <a:off x="571500" y="1333500"/>
              <a:ext cx="3810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b="1" lang="pt-BR" sz="16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.1. Solução Inicial (Acoplada)</a:t>
              </a:r>
              <a:endParaRPr b="1" sz="16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9"/>
            <p:cNvSpPr txBox="1"/>
            <p:nvPr/>
          </p:nvSpPr>
          <p:spPr>
            <a:xfrm>
              <a:off x="571500" y="1762125"/>
              <a:ext cx="3810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Nesta abordagem, o </a:t>
              </a:r>
              <a:r>
                <a:rPr b="1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Sujeito</a:t>
              </a:r>
              <a:r>
                <a:rPr b="0" lang="pt-BR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possui referências diretas para os observadores, chamando métodos específicos sempre que o estado muda.</a:t>
              </a:r>
              <a:endParaRPr b="0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" name="Google Shape;99;p19"/>
            <p:cNvPicPr preferRelativeResize="0"/>
            <p:nvPr/>
          </p:nvPicPr>
          <p:blipFill rotWithShape="1">
            <a:blip r:embed="rId3">
              <a:alphaModFix/>
            </a:blip>
            <a:srcRect b="28331" l="3332" r="3332" t="0"/>
            <a:stretch/>
          </p:blipFill>
          <p:spPr>
            <a:xfrm>
              <a:off x="571500" y="2124075"/>
              <a:ext cx="3810000" cy="2047800"/>
            </a:xfrm>
            <a:prstGeom prst="roundRect">
              <a:avLst>
                <a:gd fmla="val 3720" name="adj"/>
              </a:avLst>
            </a:prstGeom>
            <a:noFill/>
            <a:ln>
              <a:noFill/>
            </a:ln>
          </p:spPr>
        </p:pic>
      </p:grpSp>
      <p:grpSp>
        <p:nvGrpSpPr>
          <p:cNvPr id="100" name="Google Shape;100;p19"/>
          <p:cNvGrpSpPr/>
          <p:nvPr/>
        </p:nvGrpSpPr>
        <p:grpSpPr>
          <a:xfrm>
            <a:off x="4762500" y="1143000"/>
            <a:ext cx="4191000" cy="3619500"/>
            <a:chOff x="4911250" y="2948000"/>
            <a:chExt cx="4191000" cy="3619500"/>
          </a:xfrm>
        </p:grpSpPr>
        <p:sp>
          <p:nvSpPr>
            <p:cNvPr id="101" name="Google Shape;101;p19"/>
            <p:cNvSpPr/>
            <p:nvPr/>
          </p:nvSpPr>
          <p:spPr>
            <a:xfrm>
              <a:off x="4911250" y="2948000"/>
              <a:ext cx="4191000" cy="3619500"/>
            </a:xfrm>
            <a:prstGeom prst="roundRect">
              <a:avLst>
                <a:gd fmla="val 3157" name="adj"/>
              </a:avLst>
            </a:prstGeom>
            <a:solidFill>
              <a:srgbClr val="FFF4F4"/>
            </a:solidFill>
            <a:ln cap="flat" cmpd="sng" w="9525">
              <a:solidFill>
                <a:srgbClr val="F8D7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9"/>
            <p:cNvSpPr txBox="1"/>
            <p:nvPr/>
          </p:nvSpPr>
          <p:spPr>
            <a:xfrm>
              <a:off x="5101750" y="3138500"/>
              <a:ext cx="3810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4.</a:t>
              </a:r>
              <a:r>
                <a:rPr b="1" lang="pt-BR" sz="16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2 Problemas Identificados</a:t>
              </a:r>
              <a:endParaRPr b="1" sz="16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9"/>
            <p:cNvSpPr txBox="1"/>
            <p:nvPr/>
          </p:nvSpPr>
          <p:spPr>
            <a:xfrm>
              <a:off x="5101750" y="3614750"/>
              <a:ext cx="3810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C4043"/>
                </a:buClr>
                <a:buSzPts val="1200"/>
                <a:buFont typeface="Arial"/>
                <a:buChar char="●"/>
              </a:pPr>
              <a:r>
                <a:rPr b="1"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Violação do OCP:</a:t>
              </a:r>
              <a:r>
                <a:rPr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Novo observador exige alteração no Sujeito.</a:t>
              </a:r>
              <a:endParaRPr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C4043"/>
                </a:buClr>
                <a:buSzPts val="1200"/>
                <a:buFont typeface="Arial"/>
                <a:buChar char="●"/>
              </a:pPr>
              <a:r>
                <a:rPr b="1"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Dependência Concreta:</a:t>
              </a:r>
              <a:r>
                <a:rPr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 leilão conhece as classes finais.</a:t>
              </a:r>
              <a:endParaRPr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C4043"/>
                </a:buClr>
                <a:buSzPts val="1200"/>
                <a:buFont typeface="Arial"/>
                <a:buChar char="●"/>
              </a:pPr>
              <a:r>
                <a:rPr b="1"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Dificuldade de Testes:</a:t>
              </a:r>
              <a:r>
                <a:rPr lang="pt-BR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Mocking complexo por falta de interfaces.</a:t>
              </a:r>
              <a:endParaRPr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5. Implementação com o Padrão Observer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0"/>
          <p:cNvGrpSpPr/>
          <p:nvPr/>
        </p:nvGrpSpPr>
        <p:grpSpPr>
          <a:xfrm>
            <a:off x="381000" y="1238250"/>
            <a:ext cx="4845634" cy="3333900"/>
            <a:chOff x="0" y="0"/>
            <a:chExt cx="4191000" cy="3333900"/>
          </a:xfrm>
        </p:grpSpPr>
        <p:sp>
          <p:nvSpPr>
            <p:cNvPr id="109" name="Google Shape;109;p20"/>
            <p:cNvSpPr/>
            <p:nvPr/>
          </p:nvSpPr>
          <p:spPr>
            <a:xfrm>
              <a:off x="0" y="0"/>
              <a:ext cx="4191000" cy="3333900"/>
            </a:xfrm>
            <a:prstGeom prst="roundRect">
              <a:avLst>
                <a:gd fmla="val 3428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0"/>
            <p:cNvSpPr txBox="1"/>
            <p:nvPr/>
          </p:nvSpPr>
          <p:spPr>
            <a:xfrm>
              <a:off x="190500" y="190500"/>
              <a:ext cx="3810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5.1 Refatoração e Estrutura</a:t>
              </a:r>
              <a:endParaRPr b="1" sz="16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 objetivo é refatorar a solução anterior para eliminar o acoplamento direto entre o Sujeito e seus Observadores.</a:t>
              </a:r>
              <a:endParaRPr b="0" sz="1018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pt-BR" sz="1018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Classes Envolvidas:</a:t>
              </a:r>
              <a:endParaRPr b="0" sz="1018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C4043"/>
                </a:buClr>
                <a:buSzPts val="1018"/>
                <a:buFont typeface="Arial"/>
                <a:buChar char="●"/>
              </a:pPr>
              <a:r>
                <a:rPr b="1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Subject:</a:t>
              </a:r>
              <a:r>
                <a:rPr b="0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Interface que define os métodos de registro e notificação.</a:t>
              </a:r>
              <a:endParaRPr b="0" sz="1018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3211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18"/>
                <a:buFont typeface="Arial"/>
                <a:buChar char="●"/>
              </a:pPr>
              <a:r>
                <a:rPr b="1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ConcreteSubject:</a:t>
              </a:r>
              <a:r>
                <a:rPr b="0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 objeto de domínio (ex: Leilão) que notifica mudanças de estado.</a:t>
              </a:r>
              <a:endParaRPr b="0" sz="1018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3211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C4043"/>
                </a:buClr>
                <a:buSzPts val="1018"/>
                <a:buFont typeface="Arial"/>
                <a:buChar char="●"/>
              </a:pPr>
              <a:r>
                <a:rPr b="1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Observer:</a:t>
              </a:r>
              <a:r>
                <a:rPr b="0" lang="pt-BR" sz="1018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Interface com o método update().</a:t>
              </a:r>
              <a:endParaRPr b="0" sz="1018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ubtle, minimalist background pattern of interconnected nodes and lines, representing a network or software architecture, in very light gray and blue tones." id="115" name="Google Shape;1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5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6. Comparação: O Impacto do Padrão Observer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1"/>
          <p:cNvGrpSpPr/>
          <p:nvPr/>
        </p:nvGrpSpPr>
        <p:grpSpPr>
          <a:xfrm>
            <a:off x="381000" y="1143000"/>
            <a:ext cx="4048200" cy="3619500"/>
            <a:chOff x="0" y="0"/>
            <a:chExt cx="4048200" cy="3619500"/>
          </a:xfrm>
        </p:grpSpPr>
        <p:sp>
          <p:nvSpPr>
            <p:cNvPr id="118" name="Google Shape;118;p21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F8F9FA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1"/>
            <p:cNvSpPr txBox="1"/>
            <p:nvPr/>
          </p:nvSpPr>
          <p:spPr>
            <a:xfrm>
              <a:off x="190500" y="190500"/>
              <a:ext cx="36672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202124"/>
                  </a:solidFill>
                  <a:latin typeface="Arial"/>
                  <a:ea typeface="Arial"/>
                  <a:cs typeface="Arial"/>
                  <a:sym typeface="Arial"/>
                </a:rPr>
                <a:t>6.1 - Vantagens (O "Depois")</a:t>
              </a:r>
              <a:endParaRPr b="1" sz="16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Baixo Acoplamento: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 Sujeito não precisa conhecer as classes concretas dos Observadores.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Extensibilidade: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Novos observadores podem ser adicionados sem alterar o código do Sujeito (OCP).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Comunicação Broadcast: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Notificações automáticas para múltiplos interessados simultaneamente.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Reutilização: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Sujeitos e Observadores podem ser reutilizados de forma independente em outros contextos.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1"/>
          <p:cNvGrpSpPr/>
          <p:nvPr/>
        </p:nvGrpSpPr>
        <p:grpSpPr>
          <a:xfrm>
            <a:off x="4714875" y="1143000"/>
            <a:ext cx="4048200" cy="3619500"/>
            <a:chOff x="0" y="0"/>
            <a:chExt cx="4048200" cy="3619500"/>
          </a:xfrm>
        </p:grpSpPr>
        <p:sp>
          <p:nvSpPr>
            <p:cNvPr id="121" name="Google Shape;121;p21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FFF4F4"/>
            </a:solidFill>
            <a:ln cap="flat" cmpd="sng" w="9525">
              <a:solidFill>
                <a:srgbClr val="F8D7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 txBox="1"/>
            <p:nvPr/>
          </p:nvSpPr>
          <p:spPr>
            <a:xfrm>
              <a:off x="190500" y="190500"/>
              <a:ext cx="36672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A52A2A"/>
                  </a:solidFill>
                  <a:latin typeface="Arial"/>
                  <a:ea typeface="Arial"/>
                  <a:cs typeface="Arial"/>
                  <a:sym typeface="Arial"/>
                </a:rPr>
                <a:t>6.2 - Desvantagens &amp; Cuidados</a:t>
              </a:r>
              <a:endParaRPr b="1" sz="16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Atualizações Inesperadas: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Observadores não têm conhecimento sobre a presença uns dos outros, podendo causar uma cascata de mudanças.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Vazamento de Memória: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Se observadores não forem removidos (detach) corretamente, podem impedir a coleta de lixo do Sujeito.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Ordem de Notificação: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Não há garantia na ordem em que os observadores serão atualizados.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3C4043"/>
                </a:buClr>
                <a:buSzPts val="1000"/>
                <a:buFont typeface="Arial"/>
                <a:buChar char="●"/>
              </a:pPr>
              <a:r>
                <a:rPr b="1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Complexidade Inicial:</a:t>
              </a:r>
              <a:r>
                <a:rPr b="0" lang="pt-BR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Requer a criação de interfaces e infraestrutura de gerenciamento de lista.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1A1A1B"/>
                </a:solidFill>
                <a:latin typeface="Arial"/>
                <a:ea typeface="Arial"/>
                <a:cs typeface="Arial"/>
                <a:sym typeface="Arial"/>
              </a:rPr>
              <a:t>7. Conclusão: O Valor do Padrão Observer</a:t>
            </a:r>
            <a:endParaRPr b="1" sz="2400">
              <a:solidFill>
                <a:srgbClr val="1A1A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381000" y="1143000"/>
            <a:ext cx="4191000" cy="3619500"/>
          </a:xfrm>
          <a:prstGeom prst="roundRect">
            <a:avLst>
              <a:gd fmla="val 3157" name="adj"/>
            </a:avLst>
          </a:prstGeom>
          <a:solidFill>
            <a:srgbClr val="F8F9FA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571500" y="1333500"/>
            <a:ext cx="38100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Síntese do Aprendizado</a:t>
            </a:r>
            <a:endParaRPr b="1" sz="1600">
              <a:solidFill>
                <a:srgbClr val="A52A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O padrão </a:t>
            </a: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consolida-se como uma ferramenta essencial para arquiteturas desacopladas, permitindo que sistemas evoluam de forma sustentável.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3C4043"/>
              </a:buClr>
              <a:buSzPts val="1100"/>
              <a:buFont typeface="Arial"/>
              <a:buChar char="●"/>
            </a:pP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Flexibilidade: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Adição de novos interessados sem modificar o "Sujeito".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C4043"/>
              </a:buClr>
              <a:buSzPts val="1100"/>
              <a:buFont typeface="Arial"/>
              <a:buChar char="●"/>
            </a:pP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Autonomia: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Reduz a dependência entre componentes, facilitando testes e manutenção.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C4043"/>
              </a:buClr>
              <a:buSzPts val="1100"/>
              <a:buFont typeface="Arial"/>
              <a:buChar char="●"/>
            </a:pP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Responsabilidade: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Promove o princípio de Responsabilidade Única (SRP) e o Aberto/Fechado (OCP).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Em suma, dominar o Observer transforma o desenvolvedor em um </a:t>
            </a:r>
            <a:r>
              <a:rPr b="1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arquiteto de software</a:t>
            </a:r>
            <a:r>
              <a:rPr b="0" lang="pt-BR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capaz de projetar sistemas escaláveis e confiáveis.</a:t>
            </a:r>
            <a:endParaRPr b="0"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leek, modern 3D visualization of a digital core connecting to various glowing data points, symbolizing harmony, synchronization, and successful architectural design. Tech aesthetic, clean white background, soft blue and red accents to match the theme." id="131" name="Google Shape;131;p22"/>
          <p:cNvPicPr preferRelativeResize="0"/>
          <p:nvPr/>
        </p:nvPicPr>
        <p:blipFill rotWithShape="1">
          <a:blip r:embed="rId4">
            <a:alphaModFix/>
          </a:blip>
          <a:srcRect b="2499" l="0" r="0" t="2499"/>
          <a:stretch/>
        </p:blipFill>
        <p:spPr>
          <a:xfrm>
            <a:off x="4762500" y="1143000"/>
            <a:ext cx="3810000" cy="3619500"/>
          </a:xfrm>
          <a:prstGeom prst="roundRect">
            <a:avLst>
              <a:gd fmla="val 3157" name="adj"/>
            </a:avLst>
          </a:prstGeom>
          <a:noFill/>
          <a:ln>
            <a:noFill/>
          </a:ln>
        </p:spPr>
      </p:pic>
      <p:sp>
        <p:nvSpPr>
          <p:cNvPr id="132" name="Google Shape;132;p22"/>
          <p:cNvSpPr/>
          <p:nvPr/>
        </p:nvSpPr>
        <p:spPr>
          <a:xfrm>
            <a:off x="4762500" y="1143000"/>
            <a:ext cx="3810000" cy="3619500"/>
          </a:xfrm>
          <a:prstGeom prst="roundRect">
            <a:avLst>
              <a:gd fmla="val 3157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